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energy. Don't explain. Just say it.
"I bought a domain for twelve thousand five hundred dollars the day I saw this first report. I want to show you what it showed me — and then hand it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"René Girard spent his career proving that human desire isn't original. We copy what we see others wanting. That's mimesis."
"What does that mean for a market? It means your competitors are unconsciously copying each other's promises, language, and enemies — until the entire space is saying the same thing in slightly different words."
"That's what this skill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run this on your market, it produces six documents. I'm going to walk you through the first three — the ones I ran on the 'AI for Business Owners' space. My space."
"Let's start with the one that required the most honesty."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intro. Let the slide breathe. Just say:
"The first document is called the Anti-Mimetic Differentiator."
Pause. Then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skill analyzed 15 competitors in my space. It found the market has collapsed into 4 promise clusters."
"Save time. Make money with AI. Don't get left behind. AI is easy, anyone can do it."
"Jasper, Brunson, Kern, Ottley, Martell, Hormozi — all making some version of these 4 promises. In different words. With different personalities. But the same underlying claim."
"And then I got to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land. Don't rush it.
"Section 2 is called 'Where Rich Has Already Converged.'"
"'Force Multiplier' sits in the Save Time cluster — same as everyone. My 'less than 1% figured out' narrative is the same discovery arc as Kern, Brunson, Ottley. My language — 'AI-powered,' 'operating system,' 'scale' — all converged."
"The skill doesn't let you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maps the open territory — positions no competitor occupies."
List them briefly:
"AI for judgment, not just execution."
"The anti-FOMO position — nobody is saying 'slow down and think.'"
"AI as a competitive moat, not a productivity hack."
"The post-prompt paradigm."
"AI for established businesses, not aspiring ones."
"Five open positions. Nobody standing in any of them."
"And one in particular was the reason I bought that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2 goes deeper. Instead of analyzing promises, it maps what each competitor is actually selling — not the product, but the identity."
"Girard's insight: the buyer doesn't just want the product. They want to become the person who has it."
"So what person is each competitor offering to make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desire map from memory — you don't need it on the slide:
"Hormozi sells the identity of the ruthlessly competent operator."
"Brunson sells the marketing genius who cracked the code."
"Codie Sanchez sells the wise contrarian who sees what others miss."
"Dan Martell sells the free CEO who bought back his time."
"Each one is a specific person you want to become. Not a product you want to own."
"Now here's where the report found the biggest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tension. Then flip to the next slide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slow.
"The single largest uncontested desire in the AI-for-business market is knowing WHAT to do with AI. Not how. Not which tool. Not what prompt."
"WHAT. STRATEGY. PURPOSE."
"Every competitor teaches how. Nobody teaches what."
"AI anxiety is now the #1 business risk among mid-market executives — ahead of economic concerns. People have the tools. They don't have the thinking."
Pause.
"And the report said one more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3 applies the exact same framework. To me."
Pause.
"Same rigor. No mercy."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said I am the originator of concepts my competitors now use to mediate desire."
"The automated webinar — Brunson's bread and butter."
"The VSL — industry standard now."
"The lead magnet — so ubiquitous nobody remembers who invented it."
"The 'opportunity seeker vs. entrepreneur' distinction — implicit in Hormozi's entire brand."
"I taught them. They run ten times my audience."
"The report called it the Paradox of the Pioneer."
"Three critical gaps: model visibility too low, no named identity for buyers, desire fragmented across five products."
Then flip.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out loud. From the report. About yourself.
Let it breathe.
"Then it kept going. Docs 4, 5, 6 are strategic blueprints. The Manifesto play. How to unify all five products under one desire arc. How to fix the social proof ratio. All of it."
"And then I hit the one sentence that made me close the laptop and open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"AIStrategist.com. Twelve thousand five hundred dollars. Same day I read the report."
"Because the report proved the territory is real and unoccupied. And 'AI Tactician vs. AI Strategist' is the 2026 version of 'Opportunity Seeker vs. Strategic Entrepreneur.' The same wedge. The same uncontested ground. I wrote the original in 2006 and it built this company."
"The report didn't tell me to buy the domain. It proved the domain was worth it."
Pause.
"That's what this skill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distinction the skill crystallized. AI Tactician vs. AI Strategist. The 2026 version."
"You're in ZenithPro. You're not a tactician. But you now have a tool that will show you exactly where in your market the AI Strategist position is open and unoccupied."
Then flip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Mimetic Market Intelligence skill is being packaged for ZenithPro today."
"You run this on your market. It produces the same six documents. You'll see where your competitors have converged, where the open territory is, and what it would take to own it."
"For some of you that will be a $12,000 insight. For others it confirms what you already sensed. Either way — you'll have the data."
"Let me show you how to install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richardschefren/Documents/Obsidian/Active-Brain/01 Strategic Profits/00 Program Development/Deep Marketing Thinkers/Presentation/images/bg-01.jp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365760" y="914400"/>
            <a:ext cx="5029200" cy="2743200"/>
          </a:xfrm>
          <a:prstGeom prst="rect">
            <a:avLst/>
          </a:prstGeom>
          <a:noFill/>
          <a:ln/>
        </p:spPr>
        <p:txBody>
          <a:bodyPr wrap="square" lIns="0" tIns="0" rIns="0" bIns="0" rtlCol="0" anchor="ctr"/>
          <a:lstStyle/>
          <a:p>
            <a:pPr algn="l" indent="0" marL="0">
              <a:buNone/>
            </a:pPr>
            <a:r>
              <a:rPr lang="en-US" sz="7200" b="1" dirty="0">
                <a:solidFill>
                  <a:srgbClr val="F5F2E8"/>
                </a:solidFill>
                <a:latin typeface="Helvetica Neue" pitchFamily="34" charset="0"/>
                <a:ea typeface="Helvetica Neue" pitchFamily="34" charset="-122"/>
                <a:cs typeface="Helvetica Neue" pitchFamily="34" charset="-120"/>
              </a:rPr>
              <a:t>I spent</a:t>
            </a:r>
            <a:endParaRPr lang="en-US" sz="7200" dirty="0"/>
          </a:p>
          <a:p>
            <a:pPr algn="l" indent="0" marL="0">
              <a:buNone/>
            </a:pPr>
            <a:r>
              <a:rPr lang="en-US" sz="7200" b="1" dirty="0">
                <a:solidFill>
                  <a:srgbClr val="F5F2E8"/>
                </a:solidFill>
                <a:latin typeface="Helvetica Neue" pitchFamily="34" charset="0"/>
                <a:ea typeface="Helvetica Neue" pitchFamily="34" charset="-122"/>
                <a:cs typeface="Helvetica Neue" pitchFamily="34" charset="-120"/>
              </a:rPr>
              <a:t>$12,500</a:t>
            </a:r>
            <a:endParaRPr lang="en-US" sz="7200" dirty="0"/>
          </a:p>
        </p:txBody>
      </p:sp>
      <p:sp>
        <p:nvSpPr>
          <p:cNvPr id="4" name="Text 1"/>
          <p:cNvSpPr/>
          <p:nvPr/>
        </p:nvSpPr>
        <p:spPr>
          <a:xfrm>
            <a:off x="365760" y="3931920"/>
            <a:ext cx="5029200" cy="640080"/>
          </a:xfrm>
          <a:prstGeom prst="rect">
            <a:avLst/>
          </a:prstGeom>
          <a:noFill/>
          <a:ln/>
        </p:spPr>
        <p:txBody>
          <a:bodyPr wrap="square" lIns="0" tIns="0" rIns="0" bIns="0" rtlCol="0" anchor="ctr"/>
          <a:lstStyle/>
          <a:p>
            <a:pPr algn="l" indent="0" marL="0">
              <a:buNone/>
            </a:pPr>
            <a:r>
              <a:rPr lang="en-US" sz="2200" dirty="0">
                <a:solidFill>
                  <a:srgbClr val="D4A843"/>
                </a:solidFill>
                <a:latin typeface="Helvetica Neue" pitchFamily="34" charset="0"/>
                <a:ea typeface="Helvetica Neue" pitchFamily="34" charset="-122"/>
                <a:cs typeface="Helvetica Neue" pitchFamily="34" charset="-120"/>
              </a:rPr>
              <a:t>The minute I saw this first report.</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D1A"/>
        </a:solidFill>
      </p:bgPr>
    </p:bg>
    <p:spTree>
      <p:nvGrpSpPr>
        <p:cNvPr id="1" name=""/>
        <p:cNvGrpSpPr/>
        <p:nvPr/>
      </p:nvGrpSpPr>
      <p:grpSpPr>
        <a:xfrm>
          <a:off x="0" y="0"/>
          <a:ext cx="0" cy="0"/>
          <a:chOff x="0" y="0"/>
          <a:chExt cx="0" cy="0"/>
        </a:xfrm>
      </p:grpSpPr>
      <p:sp>
        <p:nvSpPr>
          <p:cNvPr id="2" name="Text 0"/>
          <p:cNvSpPr/>
          <p:nvPr/>
        </p:nvSpPr>
        <p:spPr>
          <a:xfrm>
            <a:off x="548640" y="1097280"/>
            <a:ext cx="8046720" cy="2926080"/>
          </a:xfrm>
          <a:prstGeom prst="rect">
            <a:avLst/>
          </a:prstGeom>
          <a:noFill/>
          <a:ln/>
        </p:spPr>
        <p:txBody>
          <a:bodyPr wrap="square" lIns="0" tIns="0" rIns="0" bIns="0" rtlCol="0" anchor="ctr"/>
          <a:lstStyle/>
          <a:p>
            <a:pPr algn="l" indent="0" marL="0">
              <a:buNone/>
            </a:pPr>
            <a:r>
              <a:rPr lang="en-US" sz="8000" b="1" dirty="0">
                <a:solidFill>
                  <a:srgbClr val="F5F2E8"/>
                </a:solidFill>
                <a:latin typeface="Helvetica Neue" pitchFamily="34" charset="0"/>
                <a:ea typeface="Helvetica Neue" pitchFamily="34" charset="-122"/>
                <a:cs typeface="Helvetica Neue" pitchFamily="34" charset="-120"/>
              </a:rPr>
              <a:t>Your market</a:t>
            </a:r>
            <a:endParaRPr lang="en-US" sz="8000" dirty="0"/>
          </a:p>
          <a:p>
            <a:pPr algn="l" indent="0" marL="0">
              <a:buNone/>
            </a:pPr>
            <a:r>
              <a:rPr lang="en-US" sz="8000" b="1" dirty="0">
                <a:solidFill>
                  <a:srgbClr val="F5F2E8"/>
                </a:solidFill>
                <a:latin typeface="Helvetica Neue" pitchFamily="34" charset="0"/>
                <a:ea typeface="Helvetica Neue" pitchFamily="34" charset="-122"/>
                <a:cs typeface="Helvetica Neue" pitchFamily="34" charset="-120"/>
              </a:rPr>
              <a:t>is mimetic.</a:t>
            </a:r>
            <a:endParaRPr lang="en-US" sz="8000" dirty="0"/>
          </a:p>
        </p:txBody>
      </p:sp>
      <p:sp>
        <p:nvSpPr>
          <p:cNvPr id="3" name="Text 1"/>
          <p:cNvSpPr/>
          <p:nvPr/>
        </p:nvSpPr>
        <p:spPr>
          <a:xfrm>
            <a:off x="548640" y="4206240"/>
            <a:ext cx="8229600" cy="640080"/>
          </a:xfrm>
          <a:prstGeom prst="rect">
            <a:avLst/>
          </a:prstGeom>
          <a:noFill/>
          <a:ln/>
        </p:spPr>
        <p:txBody>
          <a:bodyPr wrap="square" lIns="0" tIns="0" rIns="0" bIns="0" rtlCol="0" anchor="ctr"/>
          <a:lstStyle/>
          <a:p>
            <a:pPr algn="l" indent="0" marL="0">
              <a:buNone/>
            </a:pPr>
            <a:r>
              <a:rPr lang="en-US" sz="1800" i="1" dirty="0">
                <a:solidFill>
                  <a:srgbClr val="8B9BB4"/>
                </a:solidFill>
                <a:latin typeface="Helvetica Neue" pitchFamily="34" charset="0"/>
                <a:ea typeface="Helvetica Neue" pitchFamily="34" charset="-122"/>
                <a:cs typeface="Helvetica Neue" pitchFamily="34" charset="-120"/>
              </a:rPr>
              <a:t>René Girard: we don't decide what we want. We copy.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D1A"/>
        </a:solidFill>
      </p:bgPr>
    </p:bg>
    <p:spTree>
      <p:nvGrpSpPr>
        <p:cNvPr id="1" name=""/>
        <p:cNvGrpSpPr/>
        <p:nvPr/>
      </p:nvGrpSpPr>
      <p:grpSpPr>
        <a:xfrm>
          <a:off x="0" y="0"/>
          <a:ext cx="0" cy="0"/>
          <a:chOff x="0" y="0"/>
          <a:chExt cx="0" cy="0"/>
        </a:xfrm>
      </p:grpSpPr>
      <p:sp>
        <p:nvSpPr>
          <p:cNvPr id="2" name="Text 0"/>
          <p:cNvSpPr/>
          <p:nvPr/>
        </p:nvSpPr>
        <p:spPr>
          <a:xfrm>
            <a:off x="548640" y="822960"/>
            <a:ext cx="8229600" cy="1097280"/>
          </a:xfrm>
          <a:prstGeom prst="rect">
            <a:avLst/>
          </a:prstGeom>
          <a:noFill/>
          <a:ln/>
        </p:spPr>
        <p:txBody>
          <a:bodyPr wrap="square" lIns="0" tIns="0" rIns="0" bIns="0" rtlCol="0" anchor="ctr"/>
          <a:lstStyle/>
          <a:p>
            <a:pPr algn="l" indent="0" marL="0">
              <a:buNone/>
            </a:pPr>
            <a:r>
              <a:rPr lang="en-US" sz="7200" b="1" dirty="0">
                <a:solidFill>
                  <a:srgbClr val="F5F2E8"/>
                </a:solidFill>
                <a:latin typeface="Helvetica Neue" pitchFamily="34" charset="0"/>
                <a:ea typeface="Helvetica Neue" pitchFamily="34" charset="-122"/>
                <a:cs typeface="Helvetica Neue" pitchFamily="34" charset="-120"/>
              </a:rPr>
              <a:t>One prompt.</a:t>
            </a:r>
            <a:endParaRPr lang="en-US" sz="7200" dirty="0"/>
          </a:p>
        </p:txBody>
      </p:sp>
      <p:sp>
        <p:nvSpPr>
          <p:cNvPr id="3" name="Text 1"/>
          <p:cNvSpPr/>
          <p:nvPr/>
        </p:nvSpPr>
        <p:spPr>
          <a:xfrm>
            <a:off x="548640" y="2103120"/>
            <a:ext cx="8229600" cy="1097280"/>
          </a:xfrm>
          <a:prstGeom prst="rect">
            <a:avLst/>
          </a:prstGeom>
          <a:noFill/>
          <a:ln/>
        </p:spPr>
        <p:txBody>
          <a:bodyPr wrap="square" lIns="0" tIns="0" rIns="0" bIns="0" rtlCol="0" anchor="ctr"/>
          <a:lstStyle/>
          <a:p>
            <a:pPr algn="l" indent="0" marL="0">
              <a:buNone/>
            </a:pPr>
            <a:r>
              <a:rPr lang="en-US" sz="7200" b="1" dirty="0">
                <a:solidFill>
                  <a:srgbClr val="D4A843"/>
                </a:solidFill>
                <a:latin typeface="Helvetica Neue" pitchFamily="34" charset="0"/>
                <a:ea typeface="Helvetica Neue" pitchFamily="34" charset="-122"/>
                <a:cs typeface="Helvetica Neue" pitchFamily="34" charset="-120"/>
              </a:rPr>
              <a:t>Six documents.</a:t>
            </a:r>
            <a:endParaRPr lang="en-US" sz="7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D1A"/>
        </a:solidFill>
      </p:bgPr>
    </p:bg>
    <p:spTree>
      <p:nvGrpSpPr>
        <p:cNvPr id="1" name=""/>
        <p:cNvGrpSpPr/>
        <p:nvPr/>
      </p:nvGrpSpPr>
      <p:grpSpPr>
        <a:xfrm>
          <a:off x="0" y="0"/>
          <a:ext cx="0" cy="0"/>
          <a:chOff x="0" y="0"/>
          <a:chExt cx="0" cy="0"/>
        </a:xfrm>
      </p:grpSpPr>
      <p:sp>
        <p:nvSpPr>
          <p:cNvPr id="2" name="Text 0"/>
          <p:cNvSpPr/>
          <p:nvPr/>
        </p:nvSpPr>
        <p:spPr>
          <a:xfrm>
            <a:off x="548640" y="548640"/>
            <a:ext cx="1828800" cy="914400"/>
          </a:xfrm>
          <a:prstGeom prst="rect">
            <a:avLst/>
          </a:prstGeom>
          <a:noFill/>
          <a:ln/>
        </p:spPr>
        <p:txBody>
          <a:bodyPr wrap="square" lIns="0" tIns="0" rIns="0" bIns="0" rtlCol="0" anchor="ctr"/>
          <a:lstStyle/>
          <a:p>
            <a:pPr algn="l" indent="0" marL="0">
              <a:buNone/>
            </a:pPr>
            <a:r>
              <a:rPr lang="en-US" sz="1800" b="1" spc="400" kern="0" dirty="0">
                <a:solidFill>
                  <a:srgbClr val="D4A843"/>
                </a:solidFill>
                <a:latin typeface="Helvetica Neue" pitchFamily="34" charset="0"/>
                <a:ea typeface="Helvetica Neue" pitchFamily="34" charset="-122"/>
                <a:cs typeface="Helvetica Neue" pitchFamily="34" charset="-120"/>
              </a:rPr>
              <a:t>01</a:t>
            </a:r>
            <a:endParaRPr lang="en-US" sz="1800" dirty="0"/>
          </a:p>
        </p:txBody>
      </p:sp>
      <p:sp>
        <p:nvSpPr>
          <p:cNvPr id="3" name="Text 1"/>
          <p:cNvSpPr/>
          <p:nvPr/>
        </p:nvSpPr>
        <p:spPr>
          <a:xfrm>
            <a:off x="548640" y="1280160"/>
            <a:ext cx="8229600" cy="2926080"/>
          </a:xfrm>
          <a:prstGeom prst="rect">
            <a:avLst/>
          </a:prstGeom>
          <a:noFill/>
          <a:ln/>
        </p:spPr>
        <p:txBody>
          <a:bodyPr wrap="square" lIns="0" tIns="0" rIns="0" bIns="0" rtlCol="0" anchor="ctr"/>
          <a:lstStyle/>
          <a:p>
            <a:pPr algn="l" indent="0" marL="0">
              <a:buNone/>
            </a:pPr>
            <a:r>
              <a:rPr lang="en-US" sz="7600" b="1" dirty="0">
                <a:solidFill>
                  <a:srgbClr val="F5F2E8"/>
                </a:solidFill>
                <a:latin typeface="Helvetica Neue" pitchFamily="34" charset="0"/>
                <a:ea typeface="Helvetica Neue" pitchFamily="34" charset="-122"/>
                <a:cs typeface="Helvetica Neue" pitchFamily="34" charset="-120"/>
              </a:rPr>
              <a:t>Anti-Mimetic</a:t>
            </a:r>
            <a:endParaRPr lang="en-US" sz="7600" dirty="0"/>
          </a:p>
          <a:p>
            <a:pPr algn="l" indent="0" marL="0">
              <a:buNone/>
            </a:pPr>
            <a:r>
              <a:rPr lang="en-US" sz="7600" b="1" dirty="0">
                <a:solidFill>
                  <a:srgbClr val="F5F2E8"/>
                </a:solidFill>
                <a:latin typeface="Helvetica Neue" pitchFamily="34" charset="0"/>
                <a:ea typeface="Helvetica Neue" pitchFamily="34" charset="-122"/>
                <a:cs typeface="Helvetica Neue" pitchFamily="34" charset="-120"/>
              </a:rPr>
              <a:t>Differentiator</a:t>
            </a:r>
            <a:endParaRPr lang="en-US" sz="7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Users/richardschefren/Documents/Obsidian/Active-Brain/01 Strategic Profits/00 Program Development/Deep Marketing Thinkers/Presentation/images/bg-05.jp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457200" y="365760"/>
            <a:ext cx="7315200" cy="1828800"/>
          </a:xfrm>
          <a:prstGeom prst="rect">
            <a:avLst/>
          </a:prstGeom>
          <a:noFill/>
          <a:ln/>
        </p:spPr>
        <p:txBody>
          <a:bodyPr wrap="square" lIns="0" tIns="0" rIns="0" bIns="0" rtlCol="0" anchor="ctr"/>
          <a:lstStyle/>
          <a:p>
            <a:pPr algn="l" indent="0" marL="0">
              <a:buNone/>
            </a:pPr>
            <a:r>
              <a:rPr lang="en-US" sz="5600" b="1" dirty="0">
                <a:solidFill>
                  <a:srgbClr val="F5F2E8"/>
                </a:solidFill>
                <a:latin typeface="Helvetica Neue" pitchFamily="34" charset="0"/>
                <a:ea typeface="Helvetica Neue" pitchFamily="34" charset="-122"/>
                <a:cs typeface="Helvetica Neue" pitchFamily="34" charset="-120"/>
              </a:rPr>
              <a:t>Everyone is saying</a:t>
            </a:r>
            <a:endParaRPr lang="en-US" sz="5600" dirty="0"/>
          </a:p>
          <a:p>
            <a:pPr algn="l" indent="0" marL="0">
              <a:buNone/>
            </a:pPr>
            <a:r>
              <a:rPr lang="en-US" sz="5600" b="1" dirty="0">
                <a:solidFill>
                  <a:srgbClr val="F5F2E8"/>
                </a:solidFill>
                <a:latin typeface="Helvetica Neue" pitchFamily="34" charset="0"/>
                <a:ea typeface="Helvetica Neue" pitchFamily="34" charset="-122"/>
                <a:cs typeface="Helvetica Neue" pitchFamily="34" charset="-120"/>
              </a:rPr>
              <a:t>the same 4 things.</a:t>
            </a:r>
            <a:endParaRPr lang="en-US" sz="5600" dirty="0"/>
          </a:p>
        </p:txBody>
      </p:sp>
      <p:sp>
        <p:nvSpPr>
          <p:cNvPr id="4" name="Text 1"/>
          <p:cNvSpPr/>
          <p:nvPr/>
        </p:nvSpPr>
        <p:spPr>
          <a:xfrm>
            <a:off x="457200" y="2286000"/>
            <a:ext cx="6400800" cy="548640"/>
          </a:xfrm>
          <a:prstGeom prst="rect">
            <a:avLst/>
          </a:prstGeom>
          <a:noFill/>
          <a:ln/>
        </p:spPr>
        <p:txBody>
          <a:bodyPr wrap="square" lIns="0" tIns="0" rIns="0" bIns="0" rtlCol="0" anchor="ctr"/>
          <a:lstStyle/>
          <a:p>
            <a:pPr algn="l" indent="0" marL="0">
              <a:buNone/>
            </a:pPr>
            <a:r>
              <a:rPr lang="en-US" sz="1800" dirty="0">
                <a:solidFill>
                  <a:srgbClr val="D4A843"/>
                </a:solidFill>
                <a:latin typeface="Helvetica Neue" pitchFamily="34" charset="0"/>
                <a:ea typeface="Helvetica Neue" pitchFamily="34" charset="-122"/>
                <a:cs typeface="Helvetica Neue" pitchFamily="34" charset="-120"/>
              </a:rPr>
              <a:t>Jasper. Brunson. Kern. Ottley. Martell. Hormozi.</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D1A"/>
        </a:solidFill>
      </p:bgPr>
    </p:bg>
    <p:spTree>
      <p:nvGrpSpPr>
        <p:cNvPr id="1" name=""/>
        <p:cNvGrpSpPr/>
        <p:nvPr/>
      </p:nvGrpSpPr>
      <p:grpSpPr>
        <a:xfrm>
          <a:off x="0" y="0"/>
          <a:ext cx="0" cy="0"/>
          <a:chOff x="0" y="0"/>
          <a:chExt cx="0" cy="0"/>
        </a:xfrm>
      </p:grpSpPr>
      <p:sp>
        <p:nvSpPr>
          <p:cNvPr id="2" name="Text 0"/>
          <p:cNvSpPr/>
          <p:nvPr/>
        </p:nvSpPr>
        <p:spPr>
          <a:xfrm>
            <a:off x="548640" y="1188720"/>
            <a:ext cx="8229600" cy="2743200"/>
          </a:xfrm>
          <a:prstGeom prst="rect">
            <a:avLst/>
          </a:prstGeom>
          <a:noFill/>
          <a:ln/>
        </p:spPr>
        <p:txBody>
          <a:bodyPr wrap="square" lIns="0" tIns="0" rIns="0" bIns="0" rtlCol="0" anchor="ctr"/>
          <a:lstStyle/>
          <a:p>
            <a:pPr algn="l" indent="0" marL="0">
              <a:buNone/>
            </a:pPr>
            <a:r>
              <a:rPr lang="en-US" sz="10000" b="1" dirty="0">
                <a:solidFill>
                  <a:srgbClr val="F5F2E8"/>
                </a:solidFill>
                <a:latin typeface="Helvetica Neue" pitchFamily="34" charset="0"/>
                <a:ea typeface="Helvetica Neue" pitchFamily="34" charset="-122"/>
                <a:cs typeface="Helvetica Neue" pitchFamily="34" charset="-120"/>
              </a:rPr>
              <a:t>So am I.</a:t>
            </a:r>
            <a:endParaRPr lang="en-US" sz="10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Users/richardschefren/Documents/Obsidian/Active-Brain/01 Strategic Profits/00 Program Development/Deep Marketing Thinkers/Presentation/images/bg-07.jp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365760" y="457200"/>
            <a:ext cx="5943600" cy="2011680"/>
          </a:xfrm>
          <a:prstGeom prst="rect">
            <a:avLst/>
          </a:prstGeom>
          <a:noFill/>
          <a:ln/>
        </p:spPr>
        <p:txBody>
          <a:bodyPr wrap="square" lIns="0" tIns="0" rIns="0" bIns="0" rtlCol="0" anchor="ctr"/>
          <a:lstStyle/>
          <a:p>
            <a:pPr algn="l" indent="0" marL="0">
              <a:buNone/>
            </a:pPr>
            <a:r>
              <a:rPr lang="en-US" sz="6000" b="1" dirty="0">
                <a:solidFill>
                  <a:srgbClr val="F5F2E8"/>
                </a:solidFill>
                <a:latin typeface="Helvetica Neue" pitchFamily="34" charset="0"/>
                <a:ea typeface="Helvetica Neue" pitchFamily="34" charset="-122"/>
                <a:cs typeface="Helvetica Neue" pitchFamily="34" charset="-120"/>
              </a:rPr>
              <a:t>But nobody</a:t>
            </a:r>
            <a:endParaRPr lang="en-US" sz="6000" dirty="0"/>
          </a:p>
          <a:p>
            <a:pPr algn="l" indent="0" marL="0">
              <a:buNone/>
            </a:pPr>
            <a:r>
              <a:rPr lang="en-US" sz="6000" b="1" dirty="0">
                <a:solidFill>
                  <a:srgbClr val="F5F2E8"/>
                </a:solidFill>
                <a:latin typeface="Helvetica Neue" pitchFamily="34" charset="0"/>
                <a:ea typeface="Helvetica Neue" pitchFamily="34" charset="-122"/>
                <a:cs typeface="Helvetica Neue" pitchFamily="34" charset="-120"/>
              </a:rPr>
              <a:t>is standing here.</a:t>
            </a:r>
            <a:endParaRPr lang="en-US" sz="6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D1A"/>
        </a:solidFill>
      </p:bgPr>
    </p:bg>
    <p:spTree>
      <p:nvGrpSpPr>
        <p:cNvPr id="1" name=""/>
        <p:cNvGrpSpPr/>
        <p:nvPr/>
      </p:nvGrpSpPr>
      <p:grpSpPr>
        <a:xfrm>
          <a:off x="0" y="0"/>
          <a:ext cx="0" cy="0"/>
          <a:chOff x="0" y="0"/>
          <a:chExt cx="0" cy="0"/>
        </a:xfrm>
      </p:grpSpPr>
      <p:sp>
        <p:nvSpPr>
          <p:cNvPr id="2" name="Text 0"/>
          <p:cNvSpPr/>
          <p:nvPr/>
        </p:nvSpPr>
        <p:spPr>
          <a:xfrm>
            <a:off x="548640" y="548640"/>
            <a:ext cx="1828800" cy="914400"/>
          </a:xfrm>
          <a:prstGeom prst="rect">
            <a:avLst/>
          </a:prstGeom>
          <a:noFill/>
          <a:ln/>
        </p:spPr>
        <p:txBody>
          <a:bodyPr wrap="square" lIns="0" tIns="0" rIns="0" bIns="0" rtlCol="0" anchor="ctr"/>
          <a:lstStyle/>
          <a:p>
            <a:pPr algn="l" indent="0" marL="0">
              <a:buNone/>
            </a:pPr>
            <a:r>
              <a:rPr lang="en-US" sz="1800" b="1" spc="400" kern="0" dirty="0">
                <a:solidFill>
                  <a:srgbClr val="D4A843"/>
                </a:solidFill>
                <a:latin typeface="Helvetica Neue" pitchFamily="34" charset="0"/>
                <a:ea typeface="Helvetica Neue" pitchFamily="34" charset="-122"/>
                <a:cs typeface="Helvetica Neue" pitchFamily="34" charset="-120"/>
              </a:rPr>
              <a:t>02</a:t>
            </a:r>
            <a:endParaRPr lang="en-US" sz="1800" dirty="0"/>
          </a:p>
        </p:txBody>
      </p:sp>
      <p:sp>
        <p:nvSpPr>
          <p:cNvPr id="3" name="Text 1"/>
          <p:cNvSpPr/>
          <p:nvPr/>
        </p:nvSpPr>
        <p:spPr>
          <a:xfrm>
            <a:off x="548640" y="1280160"/>
            <a:ext cx="8229600" cy="2926080"/>
          </a:xfrm>
          <a:prstGeom prst="rect">
            <a:avLst/>
          </a:prstGeom>
          <a:noFill/>
          <a:ln/>
        </p:spPr>
        <p:txBody>
          <a:bodyPr wrap="square" lIns="0" tIns="0" rIns="0" bIns="0" rtlCol="0" anchor="ctr"/>
          <a:lstStyle/>
          <a:p>
            <a:pPr algn="l" indent="0" marL="0">
              <a:buNone/>
            </a:pPr>
            <a:r>
              <a:rPr lang="en-US" sz="7600" b="1" dirty="0">
                <a:solidFill>
                  <a:srgbClr val="F5F2E8"/>
                </a:solidFill>
                <a:latin typeface="Helvetica Neue" pitchFamily="34" charset="0"/>
                <a:ea typeface="Helvetica Neue" pitchFamily="34" charset="-122"/>
                <a:cs typeface="Helvetica Neue" pitchFamily="34" charset="-120"/>
              </a:rPr>
              <a:t>Competitor</a:t>
            </a:r>
            <a:endParaRPr lang="en-US" sz="7600" dirty="0"/>
          </a:p>
          <a:p>
            <a:pPr algn="l" indent="0" marL="0">
              <a:buNone/>
            </a:pPr>
            <a:r>
              <a:rPr lang="en-US" sz="7600" b="1" dirty="0">
                <a:solidFill>
                  <a:srgbClr val="F5F2E8"/>
                </a:solidFill>
                <a:latin typeface="Helvetica Neue" pitchFamily="34" charset="0"/>
                <a:ea typeface="Helvetica Neue" pitchFamily="34" charset="-122"/>
                <a:cs typeface="Helvetica Neue" pitchFamily="34" charset="-120"/>
              </a:rPr>
              <a:t>Desire Theft</a:t>
            </a:r>
            <a:endParaRPr lang="en-US" sz="7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Users/richardschefren/Documents/Obsidian/Active-Brain/01 Strategic Profits/00 Program Development/Deep Marketing Thinkers/Presentation/images/bg-09.jp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365760" y="914400"/>
            <a:ext cx="5029200" cy="914400"/>
          </a:xfrm>
          <a:prstGeom prst="rect">
            <a:avLst/>
          </a:prstGeom>
          <a:noFill/>
          <a:ln/>
        </p:spPr>
        <p:txBody>
          <a:bodyPr wrap="square" lIns="0" tIns="0" rIns="0" bIns="0" rtlCol="0" anchor="ctr"/>
          <a:lstStyle/>
          <a:p>
            <a:pPr algn="l" indent="0" marL="0">
              <a:buNone/>
            </a:pPr>
            <a:r>
              <a:rPr lang="en-US" sz="4400" b="1" dirty="0">
                <a:solidFill>
                  <a:srgbClr val="F5F2E8"/>
                </a:solidFill>
                <a:latin typeface="Helvetica Neue" pitchFamily="34" charset="0"/>
                <a:ea typeface="Helvetica Neue" pitchFamily="34" charset="-122"/>
                <a:cs typeface="Helvetica Neue" pitchFamily="34" charset="-120"/>
              </a:rPr>
              <a:t>They don't sell products.</a:t>
            </a:r>
            <a:endParaRPr lang="en-US" sz="4400" dirty="0"/>
          </a:p>
        </p:txBody>
      </p:sp>
      <p:sp>
        <p:nvSpPr>
          <p:cNvPr id="4" name="Text 1"/>
          <p:cNvSpPr/>
          <p:nvPr/>
        </p:nvSpPr>
        <p:spPr>
          <a:xfrm>
            <a:off x="365760" y="2011680"/>
            <a:ext cx="5029200" cy="914400"/>
          </a:xfrm>
          <a:prstGeom prst="rect">
            <a:avLst/>
          </a:prstGeom>
          <a:noFill/>
          <a:ln/>
        </p:spPr>
        <p:txBody>
          <a:bodyPr wrap="square" lIns="0" tIns="0" rIns="0" bIns="0" rtlCol="0" anchor="ctr"/>
          <a:lstStyle/>
          <a:p>
            <a:pPr algn="l" indent="0" marL="0">
              <a:buNone/>
            </a:pPr>
            <a:r>
              <a:rPr lang="en-US" sz="4400" b="1" dirty="0">
                <a:solidFill>
                  <a:srgbClr val="D4A843"/>
                </a:solidFill>
                <a:latin typeface="Helvetica Neue" pitchFamily="34" charset="0"/>
                <a:ea typeface="Helvetica Neue" pitchFamily="34" charset="-122"/>
                <a:cs typeface="Helvetica Neue" pitchFamily="34" charset="-120"/>
              </a:rPr>
              <a:t>They sell identities.</a:t>
            </a:r>
            <a:endParaRPr lang="en-US" sz="4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D1A"/>
        </a:solidFill>
      </p:bgPr>
    </p:bg>
    <p:spTree>
      <p:nvGrpSpPr>
        <p:cNvPr id="1" name=""/>
        <p:cNvGrpSpPr/>
        <p:nvPr/>
      </p:nvGrpSpPr>
      <p:grpSpPr>
        <a:xfrm>
          <a:off x="0" y="0"/>
          <a:ext cx="0" cy="0"/>
          <a:chOff x="0" y="0"/>
          <a:chExt cx="0" cy="0"/>
        </a:xfrm>
      </p:grpSpPr>
      <p:sp>
        <p:nvSpPr>
          <p:cNvPr id="2" name="Text 0"/>
          <p:cNvSpPr/>
          <p:nvPr/>
        </p:nvSpPr>
        <p:spPr>
          <a:xfrm>
            <a:off x="548640" y="731520"/>
            <a:ext cx="8229600" cy="1828800"/>
          </a:xfrm>
          <a:prstGeom prst="rect">
            <a:avLst/>
          </a:prstGeom>
          <a:noFill/>
          <a:ln/>
        </p:spPr>
        <p:txBody>
          <a:bodyPr wrap="square" lIns="0" tIns="0" rIns="0" bIns="0" rtlCol="0" anchor="ctr"/>
          <a:lstStyle/>
          <a:p>
            <a:pPr algn="l" indent="0" marL="0">
              <a:buNone/>
            </a:pPr>
            <a:r>
              <a:rPr lang="en-US" sz="5200" dirty="0">
                <a:solidFill>
                  <a:srgbClr val="8B9BB4"/>
                </a:solidFill>
                <a:latin typeface="Helvetica Neue" pitchFamily="34" charset="0"/>
                <a:ea typeface="Helvetica Neue" pitchFamily="34" charset="-122"/>
                <a:cs typeface="Helvetica Neue" pitchFamily="34" charset="-120"/>
              </a:rPr>
              <a:t>The biggest uncontested</a:t>
            </a:r>
            <a:endParaRPr lang="en-US" sz="5200" dirty="0"/>
          </a:p>
          <a:p>
            <a:pPr algn="l" indent="0" marL="0">
              <a:buNone/>
            </a:pPr>
            <a:r>
              <a:rPr lang="en-US" sz="5200" dirty="0">
                <a:solidFill>
                  <a:srgbClr val="8B9BB4"/>
                </a:solidFill>
                <a:latin typeface="Helvetica Neue" pitchFamily="34" charset="0"/>
                <a:ea typeface="Helvetica Neue" pitchFamily="34" charset="-122"/>
                <a:cs typeface="Helvetica Neue" pitchFamily="34" charset="-120"/>
              </a:rPr>
              <a:t>desire in this market:</a:t>
            </a:r>
            <a:endParaRPr lang="en-US" sz="5200" dirty="0"/>
          </a:p>
        </p:txBody>
      </p:sp>
      <p:sp>
        <p:nvSpPr>
          <p:cNvPr id="3" name="Text 1"/>
          <p:cNvSpPr/>
          <p:nvPr/>
        </p:nvSpPr>
        <p:spPr>
          <a:xfrm>
            <a:off x="548640" y="2926080"/>
            <a:ext cx="8229600" cy="1097280"/>
          </a:xfrm>
          <a:prstGeom prst="rect">
            <a:avLst/>
          </a:prstGeom>
          <a:noFill/>
          <a:ln/>
        </p:spPr>
        <p:txBody>
          <a:bodyPr wrap="square" lIns="0" tIns="0" rIns="0" bIns="0" rtlCol="0" anchor="ctr"/>
          <a:lstStyle/>
          <a:p>
            <a:pPr algn="l" indent="0" marL="0">
              <a:buNone/>
            </a:pPr>
            <a:r>
              <a:rPr lang="en-US" sz="5200" b="1" dirty="0">
                <a:solidFill>
                  <a:srgbClr val="F5F2E8"/>
                </a:solidFill>
                <a:latin typeface="Helvetica Neue" pitchFamily="34" charset="0"/>
                <a:ea typeface="Helvetica Neue" pitchFamily="34" charset="-122"/>
                <a:cs typeface="Helvetica Neue" pitchFamily="34" charset="-120"/>
              </a:rPr>
              <a:t>Nobody owns it.</a:t>
            </a:r>
            <a:endParaRPr lang="en-US" sz="5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D1A"/>
        </a:solidFill>
      </p:bgPr>
    </p:bg>
    <p:spTree>
      <p:nvGrpSpPr>
        <p:cNvPr id="1" name=""/>
        <p:cNvGrpSpPr/>
        <p:nvPr/>
      </p:nvGrpSpPr>
      <p:grpSpPr>
        <a:xfrm>
          <a:off x="0" y="0"/>
          <a:ext cx="0" cy="0"/>
          <a:chOff x="0" y="0"/>
          <a:chExt cx="0" cy="0"/>
        </a:xfrm>
      </p:grpSpPr>
      <p:sp>
        <p:nvSpPr>
          <p:cNvPr id="2" name="Text 0"/>
          <p:cNvSpPr/>
          <p:nvPr/>
        </p:nvSpPr>
        <p:spPr>
          <a:xfrm>
            <a:off x="457200" y="548640"/>
            <a:ext cx="8412480" cy="2194560"/>
          </a:xfrm>
          <a:prstGeom prst="rect">
            <a:avLst/>
          </a:prstGeom>
          <a:noFill/>
          <a:ln/>
        </p:spPr>
        <p:txBody>
          <a:bodyPr wrap="square" lIns="0" tIns="0" rIns="0" bIns="0" rtlCol="0" anchor="ctr"/>
          <a:lstStyle/>
          <a:p>
            <a:pPr algn="l" indent="0" marL="0">
              <a:buNone/>
            </a:pPr>
            <a:r>
              <a:rPr lang="en-US" sz="7200" b="1" dirty="0">
                <a:solidFill>
                  <a:srgbClr val="D4A843"/>
                </a:solidFill>
                <a:latin typeface="Helvetica Neue" pitchFamily="34" charset="0"/>
                <a:ea typeface="Helvetica Neue" pitchFamily="34" charset="-122"/>
                <a:cs typeface="Helvetica Neue" pitchFamily="34" charset="-120"/>
              </a:rPr>
              <a:t>Knowing WHAT</a:t>
            </a:r>
            <a:endParaRPr lang="en-US" sz="7200" dirty="0"/>
          </a:p>
          <a:p>
            <a:pPr algn="l" indent="0" marL="0">
              <a:buNone/>
            </a:pPr>
            <a:r>
              <a:rPr lang="en-US" sz="7200" b="1" dirty="0">
                <a:solidFill>
                  <a:srgbClr val="D4A843"/>
                </a:solidFill>
                <a:latin typeface="Helvetica Neue" pitchFamily="34" charset="0"/>
                <a:ea typeface="Helvetica Neue" pitchFamily="34" charset="-122"/>
                <a:cs typeface="Helvetica Neue" pitchFamily="34" charset="-120"/>
              </a:rPr>
              <a:t>to do with AI.</a:t>
            </a:r>
            <a:endParaRPr lang="en-US" sz="7200" dirty="0"/>
          </a:p>
        </p:txBody>
      </p:sp>
      <p:sp>
        <p:nvSpPr>
          <p:cNvPr id="3" name="Text 1"/>
          <p:cNvSpPr/>
          <p:nvPr/>
        </p:nvSpPr>
        <p:spPr>
          <a:xfrm>
            <a:off x="457200" y="2926080"/>
            <a:ext cx="8229600" cy="1280160"/>
          </a:xfrm>
          <a:prstGeom prst="rect">
            <a:avLst/>
          </a:prstGeom>
          <a:noFill/>
          <a:ln/>
        </p:spPr>
        <p:txBody>
          <a:bodyPr wrap="square" lIns="0" tIns="0" rIns="0" bIns="0" rtlCol="0" anchor="ctr"/>
          <a:lstStyle/>
          <a:p>
            <a:pPr algn="l" indent="0" marL="0">
              <a:buNone/>
            </a:pPr>
            <a:r>
              <a:rPr lang="en-US" sz="7200" b="1" dirty="0">
                <a:solidFill>
                  <a:srgbClr val="F5F2E8"/>
                </a:solidFill>
                <a:latin typeface="Helvetica Neue" pitchFamily="34" charset="0"/>
                <a:ea typeface="Helvetica Neue" pitchFamily="34" charset="-122"/>
                <a:cs typeface="Helvetica Neue" pitchFamily="34" charset="-120"/>
              </a:rPr>
              <a:t>Not HOW.</a:t>
            </a:r>
            <a:endParaRPr lang="en-US" sz="7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D1A"/>
        </a:solidFill>
      </p:bgPr>
    </p:bg>
    <p:spTree>
      <p:nvGrpSpPr>
        <p:cNvPr id="1" name=""/>
        <p:cNvGrpSpPr/>
        <p:nvPr/>
      </p:nvGrpSpPr>
      <p:grpSpPr>
        <a:xfrm>
          <a:off x="0" y="0"/>
          <a:ext cx="0" cy="0"/>
          <a:chOff x="0" y="0"/>
          <a:chExt cx="0" cy="0"/>
        </a:xfrm>
      </p:grpSpPr>
      <p:sp>
        <p:nvSpPr>
          <p:cNvPr id="2" name="Text 0"/>
          <p:cNvSpPr/>
          <p:nvPr/>
        </p:nvSpPr>
        <p:spPr>
          <a:xfrm>
            <a:off x="548640" y="548640"/>
            <a:ext cx="1828800" cy="914400"/>
          </a:xfrm>
          <a:prstGeom prst="rect">
            <a:avLst/>
          </a:prstGeom>
          <a:noFill/>
          <a:ln/>
        </p:spPr>
        <p:txBody>
          <a:bodyPr wrap="square" lIns="0" tIns="0" rIns="0" bIns="0" rtlCol="0" anchor="ctr"/>
          <a:lstStyle/>
          <a:p>
            <a:pPr algn="l" indent="0" marL="0">
              <a:buNone/>
            </a:pPr>
            <a:r>
              <a:rPr lang="en-US" sz="1800" b="1" spc="400" kern="0" dirty="0">
                <a:solidFill>
                  <a:srgbClr val="D4A843"/>
                </a:solidFill>
                <a:latin typeface="Helvetica Neue" pitchFamily="34" charset="0"/>
                <a:ea typeface="Helvetica Neue" pitchFamily="34" charset="-122"/>
                <a:cs typeface="Helvetica Neue" pitchFamily="34" charset="-120"/>
              </a:rPr>
              <a:t>03</a:t>
            </a:r>
            <a:endParaRPr lang="en-US" sz="1800" dirty="0"/>
          </a:p>
        </p:txBody>
      </p:sp>
      <p:sp>
        <p:nvSpPr>
          <p:cNvPr id="3" name="Text 1"/>
          <p:cNvSpPr/>
          <p:nvPr/>
        </p:nvSpPr>
        <p:spPr>
          <a:xfrm>
            <a:off x="548640" y="1280160"/>
            <a:ext cx="8229600" cy="2926080"/>
          </a:xfrm>
          <a:prstGeom prst="rect">
            <a:avLst/>
          </a:prstGeom>
          <a:noFill/>
          <a:ln/>
        </p:spPr>
        <p:txBody>
          <a:bodyPr wrap="square" lIns="0" tIns="0" rIns="0" bIns="0" rtlCol="0" anchor="ctr"/>
          <a:lstStyle/>
          <a:p>
            <a:pPr algn="l" indent="0" marL="0">
              <a:buNone/>
            </a:pPr>
            <a:r>
              <a:rPr lang="en-US" sz="7600" b="1" dirty="0">
                <a:solidFill>
                  <a:srgbClr val="F5F2E8"/>
                </a:solidFill>
                <a:latin typeface="Helvetica Neue" pitchFamily="34" charset="0"/>
                <a:ea typeface="Helvetica Neue" pitchFamily="34" charset="-122"/>
                <a:cs typeface="Helvetica Neue" pitchFamily="34" charset="-120"/>
              </a:rPr>
              <a:t>Your</a:t>
            </a:r>
            <a:endParaRPr lang="en-US" sz="7600" dirty="0"/>
          </a:p>
          <a:p>
            <a:pPr algn="l" indent="0" marL="0">
              <a:buNone/>
            </a:pPr>
            <a:r>
              <a:rPr lang="en-US" sz="7600" b="1" dirty="0">
                <a:solidFill>
                  <a:srgbClr val="F5F2E8"/>
                </a:solidFill>
                <a:latin typeface="Helvetica Neue" pitchFamily="34" charset="0"/>
                <a:ea typeface="Helvetica Neue" pitchFamily="34" charset="-122"/>
                <a:cs typeface="Helvetica Neue" pitchFamily="34" charset="-120"/>
              </a:rPr>
              <a:t>Desire Profile</a:t>
            </a:r>
            <a:endParaRPr lang="en-US" sz="7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Users/richardschefren/Documents/Obsidian/Active-Brain/01 Strategic Profits/00 Program Development/Deep Marketing Thinkers/Presentation/images/bg-13.jp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365760" y="731520"/>
            <a:ext cx="5029200" cy="2194560"/>
          </a:xfrm>
          <a:prstGeom prst="rect">
            <a:avLst/>
          </a:prstGeom>
          <a:noFill/>
          <a:ln/>
        </p:spPr>
        <p:txBody>
          <a:bodyPr wrap="square" lIns="0" tIns="0" rIns="0" bIns="0" rtlCol="0" anchor="ctr"/>
          <a:lstStyle/>
          <a:p>
            <a:pPr algn="l" indent="0" marL="0">
              <a:buNone/>
            </a:pPr>
            <a:r>
              <a:rPr lang="en-US" sz="6400" b="1" dirty="0">
                <a:solidFill>
                  <a:srgbClr val="F5F2E8"/>
                </a:solidFill>
                <a:latin typeface="Helvetica Neue" pitchFamily="34" charset="0"/>
                <a:ea typeface="Helvetica Neue" pitchFamily="34" charset="-122"/>
                <a:cs typeface="Helvetica Neue" pitchFamily="34" charset="-120"/>
              </a:rPr>
              <a:t>He taught</a:t>
            </a:r>
            <a:endParaRPr lang="en-US" sz="6400" dirty="0"/>
          </a:p>
          <a:p>
            <a:pPr algn="l" indent="0" marL="0">
              <a:buNone/>
            </a:pPr>
            <a:r>
              <a:rPr lang="en-US" sz="6400" b="1" dirty="0">
                <a:solidFill>
                  <a:srgbClr val="F5F2E8"/>
                </a:solidFill>
                <a:latin typeface="Helvetica Neue" pitchFamily="34" charset="0"/>
                <a:ea typeface="Helvetica Neue" pitchFamily="34" charset="-122"/>
                <a:cs typeface="Helvetica Neue" pitchFamily="34" charset="-120"/>
              </a:rPr>
              <a:t>the gurus.</a:t>
            </a:r>
            <a:endParaRPr lang="en-US" sz="6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D1A"/>
        </a:solidFill>
      </p:bgPr>
    </p:bg>
    <p:spTree>
      <p:nvGrpSpPr>
        <p:cNvPr id="1" name=""/>
        <p:cNvGrpSpPr/>
        <p:nvPr/>
      </p:nvGrpSpPr>
      <p:grpSpPr>
        <a:xfrm>
          <a:off x="0" y="0"/>
          <a:ext cx="0" cy="0"/>
          <a:chOff x="0" y="0"/>
          <a:chExt cx="0" cy="0"/>
        </a:xfrm>
      </p:grpSpPr>
      <p:sp>
        <p:nvSpPr>
          <p:cNvPr id="2" name="Text 0"/>
          <p:cNvSpPr/>
          <p:nvPr/>
        </p:nvSpPr>
        <p:spPr>
          <a:xfrm>
            <a:off x="457200" y="914400"/>
            <a:ext cx="8412480" cy="2743200"/>
          </a:xfrm>
          <a:prstGeom prst="rect">
            <a:avLst/>
          </a:prstGeom>
          <a:noFill/>
          <a:ln/>
        </p:spPr>
        <p:txBody>
          <a:bodyPr wrap="square" lIns="0" tIns="0" rIns="0" bIns="0" rtlCol="0" anchor="ctr"/>
          <a:lstStyle/>
          <a:p>
            <a:pPr algn="l" indent="0" marL="0">
              <a:buNone/>
            </a:pPr>
            <a:r>
              <a:rPr lang="en-US" sz="6400" b="1" i="1" dirty="0">
                <a:solidFill>
                  <a:srgbClr val="F5F2E8"/>
                </a:solidFill>
                <a:latin typeface="Helvetica Neue" pitchFamily="34" charset="0"/>
                <a:ea typeface="Helvetica Neue" pitchFamily="34" charset="-122"/>
                <a:cs typeface="Helvetica Neue" pitchFamily="34" charset="-120"/>
              </a:rPr>
              <a:t>And their marketing</a:t>
            </a:r>
            <a:endParaRPr lang="en-US" sz="6400" dirty="0"/>
          </a:p>
          <a:p>
            <a:pPr algn="l" indent="0" marL="0">
              <a:buNone/>
            </a:pPr>
            <a:r>
              <a:rPr lang="en-US" sz="6400" b="1" i="1" dirty="0">
                <a:solidFill>
                  <a:srgbClr val="F5F2E8"/>
                </a:solidFill>
                <a:latin typeface="Helvetica Neue" pitchFamily="34" charset="0"/>
                <a:ea typeface="Helvetica Neue" pitchFamily="34" charset="-122"/>
                <a:cs typeface="Helvetica Neue" pitchFamily="34" charset="-120"/>
              </a:rPr>
              <a:t>has surpassed his.</a:t>
            </a:r>
            <a:endParaRPr lang="en-US" sz="6400" dirty="0"/>
          </a:p>
        </p:txBody>
      </p:sp>
      <p:sp>
        <p:nvSpPr>
          <p:cNvPr id="3" name="Text 1"/>
          <p:cNvSpPr/>
          <p:nvPr/>
        </p:nvSpPr>
        <p:spPr>
          <a:xfrm>
            <a:off x="457200" y="4023360"/>
            <a:ext cx="8229600" cy="640080"/>
          </a:xfrm>
          <a:prstGeom prst="rect">
            <a:avLst/>
          </a:prstGeom>
          <a:noFill/>
          <a:ln/>
        </p:spPr>
        <p:txBody>
          <a:bodyPr wrap="square" lIns="0" tIns="0" rIns="0" bIns="0" rtlCol="0" anchor="ctr"/>
          <a:lstStyle/>
          <a:p>
            <a:pPr algn="l" indent="0" marL="0">
              <a:buNone/>
            </a:pPr>
            <a:r>
              <a:rPr lang="en-US" sz="1600" dirty="0">
                <a:solidFill>
                  <a:srgbClr val="8B9BB4"/>
                </a:solidFill>
                <a:latin typeface="Helvetica Neue" pitchFamily="34" charset="0"/>
                <a:ea typeface="Helvetica Neue" pitchFamily="34" charset="-122"/>
                <a:cs typeface="Helvetica Neue" pitchFamily="34" charset="-120"/>
              </a:rPr>
              <a:t>— The report, on Rich Schefren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Users/richardschefren/Documents/Obsidian/Active-Brain/01 Strategic Profits/00 Program Development/Deep Marketing Thinkers/Presentation/images/bg-16.jpg">    </p:cNvPr>
          <p:cNvPicPr>
            <a:picLocks noChangeAspect="1"/>
          </p:cNvPicPr>
          <p:nvPr/>
        </p:nvPicPr>
        <p:blipFill>
          <a:blip r:embed="rId1"/>
          <a:srcRect l="0" r="0" t="0" b="0"/>
          <a:stretch/>
        </p:blipFill>
        <p:spPr>
          <a:xfrm>
            <a:off x="0" y="0"/>
            <a:ext cx="9144000" cy="5143500"/>
          </a:xfrm>
          <a:prstGeom prst="rect">
            <a:avLst/>
          </a:prstGeom>
        </p:spPr>
      </p:pic>
      <p:sp>
        <p:nvSpPr>
          <p:cNvPr id="3" name="Text 0"/>
          <p:cNvSpPr/>
          <p:nvPr/>
        </p:nvSpPr>
        <p:spPr>
          <a:xfrm>
            <a:off x="365760" y="914400"/>
            <a:ext cx="5486400" cy="1005840"/>
          </a:xfrm>
          <a:prstGeom prst="rect">
            <a:avLst/>
          </a:prstGeom>
          <a:noFill/>
          <a:ln/>
        </p:spPr>
        <p:txBody>
          <a:bodyPr wrap="square" lIns="0" tIns="0" rIns="0" bIns="0" rtlCol="0" anchor="ctr"/>
          <a:lstStyle/>
          <a:p>
            <a:pPr algn="l" indent="0" marL="0">
              <a:buNone/>
            </a:pPr>
            <a:r>
              <a:rPr lang="en-US" sz="4800" b="1" dirty="0">
                <a:solidFill>
                  <a:srgbClr val="F5F2E8"/>
                </a:solidFill>
                <a:latin typeface="Helvetica Neue" pitchFamily="34" charset="0"/>
                <a:ea typeface="Helvetica Neue" pitchFamily="34" charset="-122"/>
                <a:cs typeface="Helvetica Neue" pitchFamily="34" charset="-120"/>
              </a:rPr>
              <a:t>AIStrategist.com</a:t>
            </a:r>
            <a:endParaRPr lang="en-US" sz="4800" dirty="0"/>
          </a:p>
        </p:txBody>
      </p:sp>
      <p:sp>
        <p:nvSpPr>
          <p:cNvPr id="4" name="Text 1"/>
          <p:cNvSpPr/>
          <p:nvPr/>
        </p:nvSpPr>
        <p:spPr>
          <a:xfrm>
            <a:off x="365760" y="2103120"/>
            <a:ext cx="5486400" cy="1188720"/>
          </a:xfrm>
          <a:prstGeom prst="rect">
            <a:avLst/>
          </a:prstGeom>
          <a:noFill/>
          <a:ln/>
        </p:spPr>
        <p:txBody>
          <a:bodyPr wrap="square" lIns="0" tIns="0" rIns="0" bIns="0" rtlCol="0" anchor="ctr"/>
          <a:lstStyle/>
          <a:p>
            <a:pPr algn="l" indent="0" marL="0">
              <a:buNone/>
            </a:pPr>
            <a:r>
              <a:rPr lang="en-US" sz="7200" b="1" dirty="0">
                <a:solidFill>
                  <a:srgbClr val="D4A843"/>
                </a:solidFill>
                <a:latin typeface="Helvetica Neue" pitchFamily="34" charset="0"/>
                <a:ea typeface="Helvetica Neue" pitchFamily="34" charset="-122"/>
                <a:cs typeface="Helvetica Neue" pitchFamily="34" charset="-120"/>
              </a:rPr>
              <a:t>$12,500.</a:t>
            </a:r>
            <a:endParaRPr lang="en-US" sz="7200" dirty="0"/>
          </a:p>
        </p:txBody>
      </p:sp>
      <p:sp>
        <p:nvSpPr>
          <p:cNvPr id="5" name="Text 2"/>
          <p:cNvSpPr/>
          <p:nvPr/>
        </p:nvSpPr>
        <p:spPr>
          <a:xfrm>
            <a:off x="365760" y="3474720"/>
            <a:ext cx="5486400" cy="731520"/>
          </a:xfrm>
          <a:prstGeom prst="rect">
            <a:avLst/>
          </a:prstGeom>
          <a:noFill/>
          <a:ln/>
        </p:spPr>
        <p:txBody>
          <a:bodyPr wrap="square" lIns="0" tIns="0" rIns="0" bIns="0" rtlCol="0" anchor="ctr"/>
          <a:lstStyle/>
          <a:p>
            <a:pPr algn="l" indent="0" marL="0">
              <a:buNone/>
            </a:pPr>
            <a:r>
              <a:rPr lang="en-US" sz="3600" dirty="0">
                <a:solidFill>
                  <a:srgbClr val="F5F2E8"/>
                </a:solidFill>
                <a:latin typeface="Helvetica Neue" pitchFamily="34" charset="0"/>
                <a:ea typeface="Helvetica Neue" pitchFamily="34" charset="-122"/>
                <a:cs typeface="Helvetica Neue" pitchFamily="34" charset="-120"/>
              </a:rPr>
              <a:t>Same day.</a:t>
            </a:r>
            <a:endParaRPr lang="en-US" sz="3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D1A"/>
        </a:solidFill>
      </p:bgPr>
    </p:bg>
    <p:spTree>
      <p:nvGrpSpPr>
        <p:cNvPr id="1" name=""/>
        <p:cNvGrpSpPr/>
        <p:nvPr/>
      </p:nvGrpSpPr>
      <p:grpSpPr>
        <a:xfrm>
          <a:off x="0" y="0"/>
          <a:ext cx="0" cy="0"/>
          <a:chOff x="0" y="0"/>
          <a:chExt cx="0" cy="0"/>
        </a:xfrm>
      </p:grpSpPr>
      <p:sp>
        <p:nvSpPr>
          <p:cNvPr id="2" name="Shape 0"/>
          <p:cNvSpPr/>
          <p:nvPr/>
        </p:nvSpPr>
        <p:spPr>
          <a:xfrm>
            <a:off x="4544568" y="457200"/>
            <a:ext cx="45720" cy="4297680"/>
          </a:xfrm>
          <a:prstGeom prst="rect">
            <a:avLst/>
          </a:prstGeom>
          <a:solidFill>
            <a:srgbClr val="D4A843"/>
          </a:solidFill>
          <a:ln w="12700">
            <a:solidFill>
              <a:srgbClr val="D4A843"/>
            </a:solidFill>
            <a:prstDash val="solid"/>
          </a:ln>
        </p:spPr>
      </p:sp>
      <p:sp>
        <p:nvSpPr>
          <p:cNvPr id="3" name="Text 1"/>
          <p:cNvSpPr/>
          <p:nvPr/>
        </p:nvSpPr>
        <p:spPr>
          <a:xfrm>
            <a:off x="274320" y="731520"/>
            <a:ext cx="4114800" cy="3200400"/>
          </a:xfrm>
          <a:prstGeom prst="rect">
            <a:avLst/>
          </a:prstGeom>
          <a:noFill/>
          <a:ln/>
        </p:spPr>
        <p:txBody>
          <a:bodyPr wrap="square" lIns="0" tIns="0" rIns="0" bIns="0" rtlCol="0" anchor="ctr"/>
          <a:lstStyle/>
          <a:p>
            <a:pPr algn="ctr" indent="0" marL="0">
              <a:buNone/>
            </a:pPr>
            <a:r>
              <a:rPr lang="en-US" sz="6400" b="1" dirty="0">
                <a:solidFill>
                  <a:srgbClr val="E05555"/>
                </a:solidFill>
                <a:latin typeface="Helvetica Neue" pitchFamily="34" charset="0"/>
                <a:ea typeface="Helvetica Neue" pitchFamily="34" charset="-122"/>
                <a:cs typeface="Helvetica Neue" pitchFamily="34" charset="-120"/>
              </a:rPr>
              <a:t>AI</a:t>
            </a:r>
            <a:endParaRPr lang="en-US" sz="6400" dirty="0"/>
          </a:p>
          <a:p>
            <a:pPr algn="ctr" indent="0" marL="0">
              <a:buNone/>
            </a:pPr>
            <a:r>
              <a:rPr lang="en-US" sz="6400" b="1" dirty="0">
                <a:solidFill>
                  <a:srgbClr val="E05555"/>
                </a:solidFill>
                <a:latin typeface="Helvetica Neue" pitchFamily="34" charset="0"/>
                <a:ea typeface="Helvetica Neue" pitchFamily="34" charset="-122"/>
                <a:cs typeface="Helvetica Neue" pitchFamily="34" charset="-120"/>
              </a:rPr>
              <a:t>Tactician</a:t>
            </a:r>
            <a:endParaRPr lang="en-US" sz="6400" dirty="0"/>
          </a:p>
        </p:txBody>
      </p:sp>
      <p:sp>
        <p:nvSpPr>
          <p:cNvPr id="4" name="Text 2"/>
          <p:cNvSpPr/>
          <p:nvPr/>
        </p:nvSpPr>
        <p:spPr>
          <a:xfrm>
            <a:off x="4754880" y="731520"/>
            <a:ext cx="4114800" cy="3200400"/>
          </a:xfrm>
          <a:prstGeom prst="rect">
            <a:avLst/>
          </a:prstGeom>
          <a:noFill/>
          <a:ln/>
        </p:spPr>
        <p:txBody>
          <a:bodyPr wrap="square" lIns="0" tIns="0" rIns="0" bIns="0" rtlCol="0" anchor="ctr"/>
          <a:lstStyle/>
          <a:p>
            <a:pPr algn="ctr" indent="0" marL="0">
              <a:buNone/>
            </a:pPr>
            <a:r>
              <a:rPr lang="en-US" sz="6400" b="1" dirty="0">
                <a:solidFill>
                  <a:srgbClr val="4CAF7D"/>
                </a:solidFill>
                <a:latin typeface="Helvetica Neue" pitchFamily="34" charset="0"/>
                <a:ea typeface="Helvetica Neue" pitchFamily="34" charset="-122"/>
                <a:cs typeface="Helvetica Neue" pitchFamily="34" charset="-120"/>
              </a:rPr>
              <a:t>AI</a:t>
            </a:r>
            <a:endParaRPr lang="en-US" sz="6400" dirty="0"/>
          </a:p>
          <a:p>
            <a:pPr algn="ctr" indent="0" marL="0">
              <a:buNone/>
            </a:pPr>
            <a:r>
              <a:rPr lang="en-US" sz="6400" b="1" dirty="0">
                <a:solidFill>
                  <a:srgbClr val="4CAF7D"/>
                </a:solidFill>
                <a:latin typeface="Helvetica Neue" pitchFamily="34" charset="0"/>
                <a:ea typeface="Helvetica Neue" pitchFamily="34" charset="-122"/>
                <a:cs typeface="Helvetica Neue" pitchFamily="34" charset="-120"/>
              </a:rPr>
              <a:t>Strategist</a:t>
            </a:r>
            <a:endParaRPr lang="en-US" sz="6400" dirty="0"/>
          </a:p>
        </p:txBody>
      </p:sp>
      <p:sp>
        <p:nvSpPr>
          <p:cNvPr id="5" name="Text 3"/>
          <p:cNvSpPr/>
          <p:nvPr/>
        </p:nvSpPr>
        <p:spPr>
          <a:xfrm>
            <a:off x="274320" y="4114800"/>
            <a:ext cx="4114800" cy="548640"/>
          </a:xfrm>
          <a:prstGeom prst="rect">
            <a:avLst/>
          </a:prstGeom>
          <a:noFill/>
          <a:ln/>
        </p:spPr>
        <p:txBody>
          <a:bodyPr wrap="square" lIns="0" tIns="0" rIns="0" bIns="0" rtlCol="0" anchor="ctr"/>
          <a:lstStyle/>
          <a:p>
            <a:pPr algn="ctr" indent="0" marL="0">
              <a:buNone/>
            </a:pPr>
            <a:r>
              <a:rPr lang="en-US" sz="1800" dirty="0">
                <a:solidFill>
                  <a:srgbClr val="E05555"/>
                </a:solidFill>
                <a:latin typeface="Helvetica Neue" pitchFamily="34" charset="0"/>
                <a:ea typeface="Helvetica Neue" pitchFamily="34" charset="-122"/>
                <a:cs typeface="Helvetica Neue" pitchFamily="34" charset="-120"/>
              </a:rPr>
              <a:t>Chases tools.</a:t>
            </a:r>
            <a:endParaRPr lang="en-US" sz="1800" dirty="0"/>
          </a:p>
        </p:txBody>
      </p:sp>
      <p:sp>
        <p:nvSpPr>
          <p:cNvPr id="6" name="Text 4"/>
          <p:cNvSpPr/>
          <p:nvPr/>
        </p:nvSpPr>
        <p:spPr>
          <a:xfrm>
            <a:off x="4754880" y="4114800"/>
            <a:ext cx="4114800" cy="548640"/>
          </a:xfrm>
          <a:prstGeom prst="rect">
            <a:avLst/>
          </a:prstGeom>
          <a:noFill/>
          <a:ln/>
        </p:spPr>
        <p:txBody>
          <a:bodyPr wrap="square" lIns="0" tIns="0" rIns="0" bIns="0" rtlCol="0" anchor="ctr"/>
          <a:lstStyle/>
          <a:p>
            <a:pPr algn="ctr" indent="0" marL="0">
              <a:buNone/>
            </a:pPr>
            <a:r>
              <a:rPr lang="en-US" sz="1800" dirty="0">
                <a:solidFill>
                  <a:srgbClr val="4CAF7D"/>
                </a:solidFill>
                <a:latin typeface="Helvetica Neue" pitchFamily="34" charset="0"/>
                <a:ea typeface="Helvetica Neue" pitchFamily="34" charset="-122"/>
                <a:cs typeface="Helvetica Neue" pitchFamily="34" charset="-120"/>
              </a:rPr>
              <a:t>Builds thinking.</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D1A"/>
        </a:solidFill>
      </p:bgPr>
    </p:bg>
    <p:spTree>
      <p:nvGrpSpPr>
        <p:cNvPr id="1" name=""/>
        <p:cNvGrpSpPr/>
        <p:nvPr/>
      </p:nvGrpSpPr>
      <p:grpSpPr>
        <a:xfrm>
          <a:off x="0" y="0"/>
          <a:ext cx="0" cy="0"/>
          <a:chOff x="0" y="0"/>
          <a:chExt cx="0" cy="0"/>
        </a:xfrm>
      </p:grpSpPr>
      <p:sp>
        <p:nvSpPr>
          <p:cNvPr id="2" name="Text 0"/>
          <p:cNvSpPr/>
          <p:nvPr/>
        </p:nvSpPr>
        <p:spPr>
          <a:xfrm>
            <a:off x="457200" y="731520"/>
            <a:ext cx="8229600" cy="2926080"/>
          </a:xfrm>
          <a:prstGeom prst="rect">
            <a:avLst/>
          </a:prstGeom>
          <a:noFill/>
          <a:ln/>
        </p:spPr>
        <p:txBody>
          <a:bodyPr wrap="square" lIns="0" tIns="0" rIns="0" bIns="0" rtlCol="0" anchor="ctr"/>
          <a:lstStyle/>
          <a:p>
            <a:pPr algn="l" indent="0" marL="0">
              <a:buNone/>
            </a:pPr>
            <a:r>
              <a:rPr lang="en-US" sz="9200" b="1" dirty="0">
                <a:solidFill>
                  <a:srgbClr val="F5F2E8"/>
                </a:solidFill>
                <a:latin typeface="Helvetica Neue" pitchFamily="34" charset="0"/>
                <a:ea typeface="Helvetica Neue" pitchFamily="34" charset="-122"/>
                <a:cs typeface="Helvetica Neue" pitchFamily="34" charset="-120"/>
              </a:rPr>
              <a:t>Now it's</a:t>
            </a:r>
            <a:endParaRPr lang="en-US" sz="9200" dirty="0"/>
          </a:p>
          <a:p>
            <a:pPr algn="l" indent="0" marL="0">
              <a:buNone/>
            </a:pPr>
            <a:r>
              <a:rPr lang="en-US" sz="9200" b="1" dirty="0">
                <a:solidFill>
                  <a:srgbClr val="F5F2E8"/>
                </a:solidFill>
                <a:latin typeface="Helvetica Neue" pitchFamily="34" charset="0"/>
                <a:ea typeface="Helvetica Neue" pitchFamily="34" charset="-122"/>
                <a:cs typeface="Helvetica Neue" pitchFamily="34" charset="-120"/>
              </a:rPr>
              <a:t>yours.</a:t>
            </a:r>
            <a:endParaRPr lang="en-US" sz="9200" dirty="0"/>
          </a:p>
        </p:txBody>
      </p:sp>
      <p:sp>
        <p:nvSpPr>
          <p:cNvPr id="3" name="Text 1"/>
          <p:cNvSpPr/>
          <p:nvPr/>
        </p:nvSpPr>
        <p:spPr>
          <a:xfrm>
            <a:off x="457200" y="4023360"/>
            <a:ext cx="8229600" cy="640080"/>
          </a:xfrm>
          <a:prstGeom prst="rect">
            <a:avLst/>
          </a:prstGeom>
          <a:noFill/>
          <a:ln/>
        </p:spPr>
        <p:txBody>
          <a:bodyPr wrap="square" lIns="0" tIns="0" rIns="0" bIns="0" rtlCol="0" anchor="ctr"/>
          <a:lstStyle/>
          <a:p>
            <a:pPr algn="l" indent="0" marL="0">
              <a:buNone/>
            </a:pPr>
            <a:r>
              <a:rPr lang="en-US" sz="1800" dirty="0">
                <a:solidFill>
                  <a:srgbClr val="8B9BB4"/>
                </a:solidFill>
                <a:latin typeface="Helvetica Neue" pitchFamily="34" charset="0"/>
                <a:ea typeface="Helvetica Neue" pitchFamily="34" charset="-122"/>
                <a:cs typeface="Helvetica Neue" pitchFamily="34" charset="-120"/>
              </a:rPr>
              <a:t>Mimetic Market Intelligence — packaged for ZenithPro today.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Mimetic Market Intelligence</dc:title>
  <dc:subject>PptxGenJS Presentation</dc:subject>
  <dc:creator>Rich Schefren</dc:creator>
  <cp:lastModifiedBy>Rich Schefren</cp:lastModifiedBy>
  <cp:revision>1</cp:revision>
  <dcterms:created xsi:type="dcterms:W3CDTF">2026-02-25T18:57:39Z</dcterms:created>
  <dcterms:modified xsi:type="dcterms:W3CDTF">2026-02-25T18:57:39Z</dcterms:modified>
</cp:coreProperties>
</file>